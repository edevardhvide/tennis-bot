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Calibri"/>
              </a:defRPr>
            </a:pPr>
            <a:r>
              <a:t>Availability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Tech Stack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A serverless app that monitors tennis &amp; padel court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B2FF7"/>
                </a:solidFill>
                <a:latin typeface="Consolas"/>
              </a:defRPr>
            </a:pPr>
            <a:r>
              <a:t>Built with Python  |  React  | 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Does the App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Scrapes matchi.se</a:t>
            </a:r>
            <a:r>
              <a:rPr sz="1800">
                <a:solidFill>
                  <a:srgbClr val="BBBBCC"/>
                </a:solidFill>
                <a:latin typeface="Calibri"/>
              </a:rPr>
              <a:t>  —  A booking website for tennis &amp; padel courts in Norway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No official API</a:t>
            </a:r>
            <a:r>
              <a:rPr sz="1800">
                <a:solidFill>
                  <a:srgbClr val="BBBBCC"/>
                </a:solidFill>
                <a:latin typeface="Calibri"/>
              </a:rPr>
              <a:t>  —  We parse raw HTML to extract available time slots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Monitors 11 facilities</a:t>
            </a:r>
            <a:r>
              <a:rPr sz="1800">
                <a:solidFill>
                  <a:srgbClr val="BBBBCC"/>
                </a:solidFill>
                <a:latin typeface="Calibri"/>
              </a:rPr>
              <a:t>  —  Across Oslo and Bergen, for both tennis and padel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Matches user preferences</a:t>
            </a:r>
            <a:r>
              <a:rPr sz="1800">
                <a:solidFill>
                  <a:srgbClr val="BBBBCC"/>
                </a:solidFill>
                <a:latin typeface="Calibri"/>
              </a:rPr>
              <a:t>  —  Sport, facility, days of the week, time windows, court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Sends email alerts</a:t>
            </a:r>
            <a:r>
              <a:rPr sz="1800">
                <a:solidFill>
                  <a:srgbClr val="BBBBCC"/>
                </a:solidFill>
                <a:latin typeface="Calibri"/>
              </a:rPr>
              <a:t>  —  When new courts become available that match your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1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Weekly newsletter</a:t>
            </a:r>
            <a:r>
              <a:rPr sz="1800">
                <a:solidFill>
                  <a:srgbClr val="BBBBCC"/>
                </a:solidFill>
                <a:latin typeface="Calibri"/>
              </a:rPr>
              <a:t>  —  Summary of upcoming availability across all your preferences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React frontend</a:t>
            </a:r>
            <a:r>
              <a:rPr sz="1800">
                <a:solidFill>
                  <a:srgbClr val="BBBBCC"/>
                </a:solidFill>
                <a:latin typeface="Calibri"/>
              </a:rPr>
              <a:t>  —  Users register, set preferences, and submit feature requests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Serverless event-driven architecture — no servers to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1. EventBridge (Cron)</a:t>
            </a:r>
            <a:r>
              <a:rPr sz="1600">
                <a:solidFill>
                  <a:srgbClr val="BBBBCC"/>
                </a:solidFill>
                <a:latin typeface="Calibri"/>
              </a:rPr>
              <a:t>  —  Triggers the Scraper Lambda on a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2. Scraper Lambda</a:t>
            </a:r>
            <a:r>
              <a:rPr sz="1600">
                <a:solidFill>
                  <a:srgbClr val="BBBBCC"/>
                </a:solidFill>
                <a:latin typeface="Calibri"/>
              </a:rPr>
              <a:t>  —  Fetches HTML from matchi.se, parses court slots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3. DynamoDB</a:t>
            </a:r>
            <a:r>
              <a:rPr sz="1600">
                <a:solidFill>
                  <a:srgbClr val="BBBBCC"/>
                </a:solidFill>
                <a:latin typeface="Calibri"/>
              </a:rPr>
              <a:t>  —  Stores current availability; scraper computes diff vs. previous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4. Notifications Lambda</a:t>
            </a:r>
            <a:r>
              <a:rPr sz="1600">
                <a:solidFill>
                  <a:srgbClr val="BBBBCC"/>
                </a:solidFill>
                <a:latin typeface="Calibri"/>
              </a:rPr>
              <a:t>  —  Receives diff, matches against user preferences, sends emails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5. API Gateway + Preferences Lambda</a:t>
            </a:r>
            <a:r>
              <a:rPr sz="1600">
                <a:solidFill>
                  <a:srgbClr val="BBBBCC"/>
                </a:solidFill>
                <a:latin typeface="Calibri"/>
              </a:rPr>
              <a:t>  —  REST API for the frontend to manage user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6. Frontend (S3 + CloudFront)</a:t>
            </a:r>
            <a:r>
              <a:rPr sz="1600">
                <a:solidFill>
                  <a:srgbClr val="BBBBCC"/>
                </a:solidFill>
                <a:latin typeface="Calibri"/>
              </a:rPr>
              <a:t>  —  React app served as static files from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7. Newsletter Lambda</a:t>
            </a:r>
            <a:r>
              <a:rPr sz="1600">
                <a:solidFill>
                  <a:srgbClr val="BBBBCC"/>
                </a:solidFill>
                <a:latin typeface="Calibri"/>
              </a:rPr>
              <a:t>  —  Weekly cron job sends availability summary emails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8. Feedback Lambda</a:t>
            </a:r>
            <a:r>
              <a:rPr sz="1600">
                <a:solidFill>
                  <a:srgbClr val="BBBBCC"/>
                </a:solidFill>
                <a:latin typeface="Calibri"/>
              </a:rPr>
              <a:t>  —  Saves feature requests to DynamoDB + creates GitHub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Backend — Python 3.11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Each Lambda function is a small, focused Python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7432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requests  — HTTP client for fetching web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70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BeautifulSoup4  — HTML parsing &amp; scraping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18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boto3  — AWS SDK for Python (DynamoDB, SES, Lambda)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655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arrow  — Friendlier date/time handling than datetime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130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jinja2  — HTML email template rendering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29200" cy="27432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Why Python?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Great ecosystem for web scraping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70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boto3 makes AWS integration seamless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18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Easy to read and maintain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4655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Fast prototyping for Lambda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130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Huge community &amp; learning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E66D"/>
                </a:solidFill>
                <a:latin typeface="Consolas"/>
              </a:defRPr>
            </a:pPr>
            <a:r>
              <a:t>Example:  requests.get("https://matchi.se/...") -&gt; BeautifulSoup(html) -&gt; extract slots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Frontend — React + TypeScript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3200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Component-based UI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04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Declarative: describe what to 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523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Virtual DOM for efficient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998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Huge ecosystem of tools &amp; libs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Industry standard for web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63040"/>
            <a:ext cx="3383280" cy="3200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463040"/>
            <a:ext cx="3383280" cy="54864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2FF7"/>
                </a:solidFill>
                <a:latin typeface="Calibri"/>
              </a:defRPr>
            </a:pPr>
            <a:r>
              <a:t>TypeScript 5.9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JavaScript + static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404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Catches bugs at compile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523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Better IDE autocomplete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0998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Self-documenting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4472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Types for API responses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63040"/>
            <a:ext cx="3383280" cy="3200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38328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Calibri"/>
              </a:defRPr>
            </a:pPr>
            <a:r>
              <a:t>Vite + 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Vite: blazing fast dev server &amp; bundler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404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Hot Module Replacement (HMR)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7523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Tailwind CSS: utility-first styling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0998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No custom CSS files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4472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Rapid UI prototyping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Users register by email, pick tennis/padel, set preferences, and get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AWS Cloud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"Serverless" = AWS manages the servers; you only write code &amp; pay per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474720" cy="22860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AWS Lambda — runs code on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No servers to provision or manage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2666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Scales automatically (0 to thousands)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741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Pay only when code is 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474720" cy="22860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4747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7451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DynamoDB — NoSQL key-value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On-demand capacity (no provisioning)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2666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Single-digit ms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741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5 tables for different data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737360"/>
            <a:ext cx="3474720" cy="22860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737360"/>
            <a:ext cx="34747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87451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Networking &amp;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API Gateway — HTTP API for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S3 — hosts static frontend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02666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EventBridge — cron job 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741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SES — transactional email sending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E66D"/>
                </a:solidFill>
                <a:latin typeface="Consolas"/>
              </a:defRPr>
            </a:pPr>
            <a:r>
              <a:t>Region: eu-north-1 (Stockholm)  —  closest AWS region to Norway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DynamoDB —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NoSQL: each table has a Partition Key (PK) and optional Sort Key (SK)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Partition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828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Sort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E66D"/>
                </a:solidFill>
                <a:latin typeface="Consolas"/>
              </a:defRPr>
            </a:pPr>
            <a:r>
              <a:t>tennis-users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userId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331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User registration (email)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E66D"/>
                </a:solidFill>
                <a:latin typeface="Consolas"/>
              </a:defRPr>
            </a:pPr>
            <a:r>
              <a:t>tennis-preferences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userId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834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preferenceId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8346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Sport, facility, days, time, court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E66D"/>
                </a:solidFill>
                <a:latin typeface="Consolas"/>
              </a:defRPr>
            </a:pPr>
            <a:r>
              <a:t>tennis-availability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facilityId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337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337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PK = "facility#sport" (e.g. "ota#padel")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E66D"/>
                </a:solidFill>
                <a:latin typeface="Consolas"/>
              </a:defRPr>
            </a:pPr>
            <a:r>
              <a:t>tennis-notifications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40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notificationId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840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Deduplication with 24h TTL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E66D"/>
                </a:solidFill>
                <a:latin typeface="Consolas"/>
              </a:defRPr>
            </a:pPr>
            <a:r>
              <a:t>tennis-feedback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feedbackId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343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343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User feature requests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676"/>
                </a:solidFill>
                <a:latin typeface="Calibri"/>
              </a:defRPr>
            </a:pPr>
            <a:r>
              <a:t>Key insight: composite keys like "ota#padel" encode both facility and sport in one field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Web Scraping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Step 1: Fetch HTML</a:t>
            </a:r>
            <a:r>
              <a:rPr sz="1800">
                <a:solidFill>
                  <a:srgbClr val="BBBBCC"/>
                </a:solidFill>
                <a:latin typeface="Calibri"/>
              </a:rPr>
              <a:t>  —  Send HTTP GET to matchi.se for each facility + sport combo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Step 2: Parse HTML</a:t>
            </a:r>
            <a:r>
              <a:rPr sz="1800">
                <a:solidFill>
                  <a:srgbClr val="BBBBCC"/>
                </a:solidFill>
                <a:latin typeface="Calibri"/>
              </a:rPr>
              <a:t>  —  BeautifulSoup extracts the booking table from raw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Step 3: Extract Slots</a:t>
            </a:r>
            <a:r>
              <a:rPr sz="1800">
                <a:solidFill>
                  <a:srgbClr val="BBBBCC"/>
                </a:solidFill>
                <a:latin typeface="Calibri"/>
              </a:rPr>
              <a:t>  —  Find available time slots (date, time, court name, price)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Step 4: Diff</a:t>
            </a:r>
            <a:r>
              <a:rPr sz="1800">
                <a:solidFill>
                  <a:srgbClr val="BBBBCC"/>
                </a:solidFill>
                <a:latin typeface="Calibri"/>
              </a:rPr>
              <a:t>  —  Compare new slots against the previous snapshot in DynamoDB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Step 5: Notify</a:t>
            </a:r>
            <a:r>
              <a:rPr sz="1800">
                <a:solidFill>
                  <a:srgbClr val="BBBBCC"/>
                </a:solidFill>
                <a:latin typeface="Calibri"/>
              </a:rPr>
              <a:t>  —  If there are NEW slots, trigger the Notifications Lambda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Step 6: Store</a:t>
            </a:r>
            <a:r>
              <a:rPr sz="1800">
                <a:solidFill>
                  <a:srgbClr val="BBBBCC"/>
                </a:solidFill>
                <a:latin typeface="Calibri"/>
              </a:rPr>
              <a:t>  —  Save the current snapshot to DynamoDB for next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F43"/>
                </a:solidFill>
                <a:latin typeface="Calibri"/>
              </a:defRPr>
            </a:pPr>
            <a:r>
              <a:t>No API = fragile! If matchi.se changes their HTML, the scraper can break.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Email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292608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How Notifications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1. Scraper finds new available slots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04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2. Notifications Lambda loads all user preferences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523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3. Matcher checks: facility + sport + day + time + court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99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4. Dedup prevents sending same alert twice (24h window)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5. Jinja2 renders a beautiful HTML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6. Email sent via AWS SES or Gmail SMTP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029200" cy="292608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Calibri"/>
              </a:defRPr>
            </a:pPr>
            <a:r>
              <a:t>Email Delivery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AWS SES — scalable, cheap, production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04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Gmail SMTP — fallback / development 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7523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SMTP_HOST env var controls which is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099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HTML templates in email_templates/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472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Jinja2 templating for dynamic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Branded design with facility &amp; sport info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facilities.py         — shared facility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lambdas/scraper/      — web scraping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lambdas/preferences/  — user preferences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lambdas/notifications/ — alert matching &amp; sending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lambdas/newsletter/   — weekly summary emails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lambdas/feedback/     — feature request handler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frontend/src/         — React + TypeScript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tests/                — pytest test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tests/fixtures/       — HTML fixtures for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email_templates/      — Jinja2 HTML 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scripts/              — DB migration 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infra/                — DynamoDB &amp; API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676"/>
                </a:solidFill>
                <a:latin typeface="Calibri"/>
              </a:defRPr>
            </a:pPr>
            <a:r>
              <a:t>Key pattern: facilities.py is shared — copied into each Lambda at build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DevOps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3200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Build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Makefile orchestrates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Each Lambda packaged as a .zip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609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Dependencies installed to package/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083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Handler + shared files added on 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558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Uploaded to AWS via 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474720" cy="3200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pytest for all backend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134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HTML fixtures simulate matchi.se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609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E2E pipeline tests (scrape-&gt;notify)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0083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Scoped testing: only test what 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558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Frontend: TypeScript type checking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474720" cy="3200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All infra is on AWS (no Terraform yet)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134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DynamoDB tables: on-demand capacity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609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API Gateway: HTTP API (not REST)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0083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EventBridge: cron-based 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3558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S3: static site hosting for frontend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Serverless is powerful</a:t>
            </a:r>
            <a:r>
              <a:rPr sz="1800">
                <a:solidFill>
                  <a:srgbClr val="BBBBCC"/>
                </a:solidFill>
                <a:latin typeface="Calibri"/>
              </a:rPr>
              <a:t>  —  No servers to manage — focus on business logic, not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762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762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Python + BeautifulSoup</a:t>
            </a:r>
            <a:r>
              <a:rPr sz="1800">
                <a:solidFill>
                  <a:srgbClr val="BBBBCC"/>
                </a:solidFill>
                <a:latin typeface="Calibri"/>
              </a:rPr>
              <a:t>  —  Great combo for web scraping when there's no API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9806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9806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React + TypeScript</a:t>
            </a:r>
            <a:r>
              <a:rPr sz="1800">
                <a:solidFill>
                  <a:srgbClr val="BBBBCC"/>
                </a:solidFill>
                <a:latin typeface="Calibri"/>
              </a:rPr>
              <a:t>  —  Industry-standard frontend stack with type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198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198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Event-driven design</a:t>
            </a:r>
            <a:r>
              <a:rPr sz="1800">
                <a:solidFill>
                  <a:srgbClr val="BBBBCC"/>
                </a:solidFill>
                <a:latin typeface="Calibri"/>
              </a:rPr>
              <a:t>  —  Lambdas trigger each other — loosely coupled, easy to extend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416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DynamoDB composite keys</a:t>
            </a:r>
            <a:r>
              <a:rPr sz="1800">
                <a:solidFill>
                  <a:srgbClr val="BBBBCC"/>
                </a:solidFill>
                <a:latin typeface="Calibri"/>
              </a:rPr>
              <a:t>  —  Clever key design (e.g. "ota#padel") avoids extra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NoSQL trade-offs</a:t>
            </a:r>
            <a:r>
              <a:rPr sz="1800">
                <a:solidFill>
                  <a:srgbClr val="BBBBCC"/>
                </a:solidFill>
                <a:latin typeface="Calibri"/>
              </a:rPr>
              <a:t>  —  Flexible schema, but you must design your access patterns upfront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852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852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Scraping is fragile</a:t>
            </a:r>
            <a:r>
              <a:rPr sz="1800">
                <a:solidFill>
                  <a:srgbClr val="BBBBCC"/>
                </a:solidFill>
                <a:latin typeface="Calibri"/>
              </a:rPr>
              <a:t>  —  HTML changes can break everything — always have good tests!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2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onsolas"/>
              </a:defRPr>
            </a:pPr>
            <a:r>
              <a:t>github.com/edevardHvide/Tennis-bot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